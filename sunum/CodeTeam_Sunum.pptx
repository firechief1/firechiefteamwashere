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7432" cy="27432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280160" y="109728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103120" y="365760"/>
            <a:ext cx="22860" cy="22860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834640" y="146304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657600" y="640080"/>
            <a:ext cx="27432" cy="27432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754880" y="27432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577840" y="1005840"/>
            <a:ext cx="22860" cy="22860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400800" y="45720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498080" y="1280160"/>
            <a:ext cx="27432" cy="27432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0" y="54864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595360" y="2011680"/>
            <a:ext cx="22860" cy="22860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65760" y="256032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955280" y="3108960"/>
            <a:ext cx="27432" cy="27432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503920" y="420624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4480560"/>
            <a:ext cx="22860" cy="22860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737360" y="466344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108960" y="402336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035040" y="4572000"/>
            <a:ext cx="22860" cy="22860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0" y="429768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377440" y="265176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766560" y="2103120"/>
            <a:ext cx="3108960" cy="3108960"/>
          </a:xfrm>
          <a:prstGeom prst="ellipse">
            <a:avLst/>
          </a:prstGeom>
          <a:solidFill>
            <a:srgbClr val="7AA2F7">
              <a:alpha val="3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223760" y="2560320"/>
            <a:ext cx="2194560" cy="2194560"/>
          </a:xfrm>
          <a:prstGeom prst="ellipse">
            <a:avLst/>
          </a:prstGeom>
          <a:solidFill>
            <a:srgbClr val="2DD4BF">
              <a:alpha val="4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543800" y="2880360"/>
            <a:ext cx="1554480" cy="1554480"/>
          </a:xfrm>
          <a:prstGeom prst="ellipse">
            <a:avLst/>
          </a:prstGeom>
          <a:solidFill>
            <a:srgbClr val="11183A"/>
          </a:solidFill>
          <a:ln w="19050">
            <a:solidFill>
              <a:srgbClr val="7AA2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1097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BİTİRME PROJESİ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94360" y="1463040"/>
            <a:ext cx="621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Yerel Çoklu-Agent</a:t>
            </a:r>
            <a:endParaRPr lang="en-US" sz="3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Yazılım Geliştirme Takımı</a:t>
            </a:r>
            <a:endParaRPr lang="en-US" sz="3800" dirty="0"/>
          </a:p>
        </p:txBody>
      </p:sp>
      <p:sp>
        <p:nvSpPr>
          <p:cNvPr id="27" name="Text 25"/>
          <p:cNvSpPr/>
          <p:nvPr/>
        </p:nvSpPr>
        <p:spPr>
          <a:xfrm>
            <a:off x="640080" y="315468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 modeller ve Claude ile çalışan,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tabanlı yapay zekâ geliştirici takımı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0080" y="4389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Erkut Ateş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0080" y="4709160"/>
            <a:ext cx="992124" cy="292608"/>
          </a:xfrm>
          <a:prstGeom prst="roundRect">
            <a:avLst>
              <a:gd name="adj" fmla="val 50000"/>
            </a:avLst>
          </a:prstGeom>
          <a:solidFill>
            <a:srgbClr val="151B3D"/>
          </a:solidFill>
          <a:ln w="12700">
            <a:solidFill>
              <a:srgbClr val="2A33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709160"/>
            <a:ext cx="9921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B1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LangGraph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741932" y="4709160"/>
            <a:ext cx="1536192" cy="292608"/>
          </a:xfrm>
          <a:prstGeom prst="roundRect">
            <a:avLst>
              <a:gd name="adj" fmla="val 50000"/>
            </a:avLst>
          </a:prstGeom>
          <a:solidFill>
            <a:srgbClr val="151B3D"/>
          </a:solidFill>
          <a:ln w="12700">
            <a:solidFill>
              <a:srgbClr val="2A33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741932" y="4709160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B1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· Qwen2.5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387852" y="470916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151B3D"/>
          </a:solidFill>
          <a:ln w="12700">
            <a:solidFill>
              <a:srgbClr val="2A33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87852" y="47091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B1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ChromaDB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411980" y="470916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151B3D"/>
          </a:solidFill>
          <a:ln w="12700">
            <a:solidFill>
              <a:srgbClr val="2A33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11980" y="47091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B1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436108" y="4709160"/>
            <a:ext cx="525780" cy="292608"/>
          </a:xfrm>
          <a:prstGeom prst="roundRect">
            <a:avLst>
              <a:gd name="adj" fmla="val 50000"/>
            </a:avLst>
          </a:prstGeom>
          <a:solidFill>
            <a:srgbClr val="151B3D"/>
          </a:solidFill>
          <a:ln w="12700">
            <a:solidFill>
              <a:srgbClr val="2A33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36108" y="4709160"/>
            <a:ext cx="525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B1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071616" y="4709160"/>
            <a:ext cx="681228" cy="292608"/>
          </a:xfrm>
          <a:prstGeom prst="roundRect">
            <a:avLst>
              <a:gd name="adj" fmla="val 50000"/>
            </a:avLst>
          </a:prstGeom>
          <a:solidFill>
            <a:srgbClr val="151B3D"/>
          </a:solidFill>
          <a:ln w="12700">
            <a:solidFill>
              <a:srgbClr val="2A336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71616" y="4709160"/>
            <a:ext cx="6812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B1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7432" cy="27432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280160" y="109728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103120" y="365760"/>
            <a:ext cx="22860" cy="22860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834640" y="146304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657600" y="640080"/>
            <a:ext cx="27432" cy="27432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754880" y="27432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577840" y="1005840"/>
            <a:ext cx="22860" cy="22860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400800" y="45720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498080" y="1280160"/>
            <a:ext cx="27432" cy="27432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0" y="54864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595360" y="2011680"/>
            <a:ext cx="22860" cy="22860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65760" y="256032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955280" y="3108960"/>
            <a:ext cx="27432" cy="27432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503920" y="420624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4480560"/>
            <a:ext cx="22860" cy="22860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737360" y="466344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108960" y="402336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035040" y="4572000"/>
            <a:ext cx="22860" cy="22860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0" y="429768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377440" y="265176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86460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Yerel Çoklu-Agent Yazılım Geliştirme Takımı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321040" y="4846320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1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AA2F7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NEDEN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530352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ve Tezimiz</a:t>
            </a:r>
            <a:endParaRPr lang="en-US" sz="2900" dirty="0"/>
          </a:p>
        </p:txBody>
      </p:sp>
      <p:sp>
        <p:nvSpPr>
          <p:cNvPr id="27" name="Shape 25"/>
          <p:cNvSpPr/>
          <p:nvPr/>
        </p:nvSpPr>
        <p:spPr>
          <a:xfrm>
            <a:off x="548640" y="1417320"/>
            <a:ext cx="3886200" cy="3108960"/>
          </a:xfrm>
          <a:prstGeom prst="roundRect">
            <a:avLst>
              <a:gd name="adj" fmla="val 2353"/>
            </a:avLst>
          </a:prstGeom>
          <a:solidFill>
            <a:srgbClr val="151B3D"/>
          </a:solidFill>
          <a:ln w="12700">
            <a:solidFill>
              <a:srgbClr val="2A33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77240" y="15910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776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SORUN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77240" y="1956816"/>
            <a:ext cx="3429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bir AI çağrısı; plan, kod, gözden geçirme ve testi bir arada iyi yapamaz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Üretilen kod çoğu zaman doğrulanmadan teslim edilir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Görev türüne göre (Python, web, Node) farklı uzmanlık gerekir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4709160" y="1417320"/>
            <a:ext cx="3886200" cy="3108960"/>
          </a:xfrm>
          <a:prstGeom prst="roundRect">
            <a:avLst>
              <a:gd name="adj" fmla="val 2353"/>
            </a:avLst>
          </a:prstGeom>
          <a:solidFill>
            <a:srgbClr val="1C2349"/>
          </a:solidFill>
          <a:ln w="12700">
            <a:solidFill>
              <a:srgbClr val="2A33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937760" y="15910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TEZİMİZ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0" y="1956816"/>
            <a:ext cx="3429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Takım gibi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uzman ajanlar bir hattı paylaşır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motor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 (Ollama) ve Claude — istek başına seçilir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Gerçekten çalışır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üretilen kod test edilip öyle teslim edilir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“Gerçek bir yazılım takımı gibi — analist, geliştirici, gözden geçiren, test ve entegratör — hepsi tek bir akışta.”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7432" cy="27432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280160" y="109728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103120" y="365760"/>
            <a:ext cx="22860" cy="22860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834640" y="146304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657600" y="640080"/>
            <a:ext cx="27432" cy="27432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754880" y="27432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577840" y="1005840"/>
            <a:ext cx="22860" cy="22860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400800" y="45720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498080" y="1280160"/>
            <a:ext cx="27432" cy="27432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0" y="54864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595360" y="2011680"/>
            <a:ext cx="22860" cy="22860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65760" y="256032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955280" y="3108960"/>
            <a:ext cx="27432" cy="27432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503920" y="420624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4480560"/>
            <a:ext cx="22860" cy="22860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737360" y="466344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108960" y="402336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035040" y="4572000"/>
            <a:ext cx="22860" cy="22860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0" y="429768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377440" y="265176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86460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Yerel Çoklu-Agent Yazılım Geliştirme Takımı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321040" y="4846320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1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AA2F7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BIR BAKIŞTA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530352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Rakamlarla Proje</a:t>
            </a:r>
            <a:endParaRPr lang="en-US" sz="2900" dirty="0"/>
          </a:p>
        </p:txBody>
      </p:sp>
      <p:sp>
        <p:nvSpPr>
          <p:cNvPr id="27" name="Shape 25"/>
          <p:cNvSpPr/>
          <p:nvPr/>
        </p:nvSpPr>
        <p:spPr>
          <a:xfrm>
            <a:off x="548640" y="1554480"/>
            <a:ext cx="1591056" cy="1874520"/>
          </a:xfrm>
          <a:prstGeom prst="roundRect">
            <a:avLst>
              <a:gd name="adj" fmla="val 5747"/>
            </a:avLst>
          </a:prstGeom>
          <a:solidFill>
            <a:srgbClr val="1C2349"/>
          </a:solidFill>
          <a:ln w="15875">
            <a:solidFill>
              <a:srgbClr val="7AA2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94360" y="1810512"/>
            <a:ext cx="1499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7AA2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5000" dirty="0"/>
          </a:p>
        </p:txBody>
      </p:sp>
      <p:sp>
        <p:nvSpPr>
          <p:cNvPr id="29" name="Text 27"/>
          <p:cNvSpPr/>
          <p:nvPr/>
        </p:nvSpPr>
        <p:spPr>
          <a:xfrm>
            <a:off x="621792" y="2697480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düğümlü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hattı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249424" y="1554480"/>
            <a:ext cx="1591056" cy="1874520"/>
          </a:xfrm>
          <a:prstGeom prst="roundRect">
            <a:avLst>
              <a:gd name="adj" fmla="val 5747"/>
            </a:avLst>
          </a:prstGeom>
          <a:solidFill>
            <a:srgbClr val="1C2349"/>
          </a:solidFill>
          <a:ln w="15875">
            <a:solidFill>
              <a:srgbClr val="2DD4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295144" y="1810512"/>
            <a:ext cx="1499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5000" dirty="0"/>
          </a:p>
        </p:txBody>
      </p:sp>
      <p:sp>
        <p:nvSpPr>
          <p:cNvPr id="32" name="Text 30"/>
          <p:cNvSpPr/>
          <p:nvPr/>
        </p:nvSpPr>
        <p:spPr>
          <a:xfrm>
            <a:off x="2322576" y="2697480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uzman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ajanı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950208" y="1554480"/>
            <a:ext cx="1591056" cy="1874520"/>
          </a:xfrm>
          <a:prstGeom prst="roundRect">
            <a:avLst>
              <a:gd name="adj" fmla="val 5747"/>
            </a:avLst>
          </a:prstGeom>
          <a:solidFill>
            <a:srgbClr val="1C2349"/>
          </a:solidFill>
          <a:ln w="15875">
            <a:solidFill>
              <a:srgbClr val="E0AF6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995928" y="1810512"/>
            <a:ext cx="1499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E0AF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5000" dirty="0"/>
          </a:p>
        </p:txBody>
      </p:sp>
      <p:sp>
        <p:nvSpPr>
          <p:cNvPr id="35" name="Text 33"/>
          <p:cNvSpPr/>
          <p:nvPr/>
        </p:nvSpPr>
        <p:spPr>
          <a:xfrm>
            <a:off x="4023360" y="2697480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 / profil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desteği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650992" y="1554480"/>
            <a:ext cx="1591056" cy="1874520"/>
          </a:xfrm>
          <a:prstGeom prst="roundRect">
            <a:avLst>
              <a:gd name="adj" fmla="val 5747"/>
            </a:avLst>
          </a:prstGeom>
          <a:solidFill>
            <a:srgbClr val="1C2349"/>
          </a:solidFill>
          <a:ln w="15875">
            <a:solidFill>
              <a:srgbClr val="F7768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696712" y="1810512"/>
            <a:ext cx="1499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7768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5000" dirty="0"/>
          </a:p>
        </p:txBody>
      </p:sp>
      <p:sp>
        <p:nvSpPr>
          <p:cNvPr id="38" name="Text 36"/>
          <p:cNvSpPr/>
          <p:nvPr/>
        </p:nvSpPr>
        <p:spPr>
          <a:xfrm>
            <a:off x="5724144" y="2697480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 + Claude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7351776" y="1554480"/>
            <a:ext cx="1591056" cy="1874520"/>
          </a:xfrm>
          <a:prstGeom prst="roundRect">
            <a:avLst>
              <a:gd name="adj" fmla="val 5747"/>
            </a:avLst>
          </a:prstGeom>
          <a:solidFill>
            <a:srgbClr val="1C2349"/>
          </a:solidFill>
          <a:ln w="15875">
            <a:solidFill>
              <a:srgbClr val="7AA2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7397496" y="1810512"/>
            <a:ext cx="1499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7AA2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5000" dirty="0"/>
          </a:p>
        </p:txBody>
      </p:sp>
      <p:sp>
        <p:nvSpPr>
          <p:cNvPr id="41" name="Text 39"/>
          <p:cNvSpPr/>
          <p:nvPr/>
        </p:nvSpPr>
        <p:spPr>
          <a:xfrm>
            <a:off x="7424928" y="2697480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aracı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dosya · git · test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548640" y="379476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151B3D"/>
          </a:solidFill>
          <a:ln w="12700">
            <a:solidFill>
              <a:srgbClr val="2A33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48640" y="3794760"/>
            <a:ext cx="91440" cy="7772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4" name="Text 42"/>
          <p:cNvSpPr/>
          <p:nvPr/>
        </p:nvSpPr>
        <p:spPr>
          <a:xfrm>
            <a:off x="822960" y="3913632"/>
            <a:ext cx="7635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hedefli iyileştirme </a:t>
            </a:r>
            <a:pPr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tamamlandı — model dayanıklılığı, bağlam hijyeni, RAG kalitesi, LangGraph akışı, Node profili, dosya düzenleme, hibrit motor ve modern UI.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7432" cy="27432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280160" y="109728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103120" y="365760"/>
            <a:ext cx="22860" cy="22860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834640" y="146304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657600" y="640080"/>
            <a:ext cx="27432" cy="27432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754880" y="27432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577840" y="1005840"/>
            <a:ext cx="22860" cy="22860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400800" y="45720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498080" y="1280160"/>
            <a:ext cx="27432" cy="27432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0" y="54864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595360" y="2011680"/>
            <a:ext cx="22860" cy="22860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65760" y="256032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955280" y="3108960"/>
            <a:ext cx="27432" cy="27432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503920" y="420624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4480560"/>
            <a:ext cx="22860" cy="22860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737360" y="466344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108960" y="402336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035040" y="4572000"/>
            <a:ext cx="22860" cy="22860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0" y="429768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377440" y="265176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86460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Yerel Çoklu-Agent Yazılım Geliştirme Takımı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321040" y="4846320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1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AA2F7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GENEL BAKIŞ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530352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Sistem Mimarisi</a:t>
            </a:r>
            <a:endParaRPr lang="en-US" sz="2900" dirty="0"/>
          </a:p>
        </p:txBody>
      </p:sp>
      <p:sp>
        <p:nvSpPr>
          <p:cNvPr id="27" name="Shape 25"/>
          <p:cNvSpPr/>
          <p:nvPr/>
        </p:nvSpPr>
        <p:spPr>
          <a:xfrm>
            <a:off x="2377440" y="1298448"/>
            <a:ext cx="4389120" cy="658368"/>
          </a:xfrm>
          <a:prstGeom prst="roundRect">
            <a:avLst>
              <a:gd name="adj" fmla="val 9722"/>
            </a:avLst>
          </a:prstGeom>
          <a:solidFill>
            <a:srgbClr val="151B3D"/>
          </a:solidFill>
          <a:ln w="15875">
            <a:solidFill>
              <a:srgbClr val="7AA2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514600" y="13807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Arayüzü (Vite + TS)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2468880" y="166420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seçici · Lokal/Claude anahtarı · RAG anahtarı · sohbet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0" y="1956816"/>
            <a:ext cx="0" cy="237744"/>
          </a:xfrm>
          <a:prstGeom prst="line">
            <a:avLst/>
          </a:prstGeom>
          <a:noFill/>
          <a:ln w="25400">
            <a:solidFill>
              <a:srgbClr val="7AA2F7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2377440" y="2212848"/>
            <a:ext cx="4389120" cy="621792"/>
          </a:xfrm>
          <a:prstGeom prst="roundRect">
            <a:avLst>
              <a:gd name="adj" fmla="val 10294"/>
            </a:avLst>
          </a:prstGeom>
          <a:solidFill>
            <a:srgbClr val="151B3D"/>
          </a:solidFill>
          <a:ln w="15875">
            <a:solidFill>
              <a:srgbClr val="2DD4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514600" y="22951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Yerel HTTP API (stdlib)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2468880" y="257860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127.0.0.1 · framework yok · projeye özel istek yönetimi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0" y="2834640"/>
            <a:ext cx="0" cy="237744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2377440" y="3090672"/>
            <a:ext cx="4389120" cy="749808"/>
          </a:xfrm>
          <a:prstGeom prst="roundRect">
            <a:avLst>
              <a:gd name="adj" fmla="val 8537"/>
            </a:avLst>
          </a:prstGeom>
          <a:solidFill>
            <a:srgbClr val="1C2349"/>
          </a:solidFill>
          <a:ln w="15875">
            <a:solidFill>
              <a:srgbClr val="E0AF6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514600" y="31729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LangGraph Orkestratörü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2468880" y="345643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düğümlü StateGraph · deterministik Supervisor döngüsü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3035808"/>
            <a:ext cx="1828800" cy="859536"/>
          </a:xfrm>
          <a:prstGeom prst="roundRect">
            <a:avLst>
              <a:gd name="adj" fmla="val 7447"/>
            </a:avLst>
          </a:prstGeom>
          <a:solidFill>
            <a:srgbClr val="151B3D"/>
          </a:solidFill>
          <a:ln w="15875">
            <a:solidFill>
              <a:srgbClr val="F7768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02920" y="311810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Havuzu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457200" y="340156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Yetenek-bazlı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+ Claude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194560" y="3465576"/>
            <a:ext cx="182880" cy="0"/>
          </a:xfrm>
          <a:prstGeom prst="line">
            <a:avLst/>
          </a:prstGeom>
          <a:noFill/>
          <a:ln w="25400">
            <a:solidFill>
              <a:srgbClr val="F7768E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6949440" y="3035808"/>
            <a:ext cx="1828800" cy="859536"/>
          </a:xfrm>
          <a:prstGeom prst="roundRect">
            <a:avLst>
              <a:gd name="adj" fmla="val 7447"/>
            </a:avLst>
          </a:prstGeom>
          <a:solidFill>
            <a:srgbClr val="151B3D"/>
          </a:solidFill>
          <a:ln w="15875">
            <a:solidFill>
              <a:srgbClr val="2DD4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086600" y="311810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· MCP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7040880" y="340156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bilgi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 araçlar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949440" y="3465576"/>
            <a:ext cx="-18288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4572000" y="3840480"/>
            <a:ext cx="0" cy="237744"/>
          </a:xfrm>
          <a:prstGeom prst="line">
            <a:avLst/>
          </a:prstGeom>
          <a:noFill/>
          <a:ln w="25400">
            <a:solidFill>
              <a:srgbClr val="E0AF68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2377440" y="4096512"/>
            <a:ext cx="4389120" cy="603504"/>
          </a:xfrm>
          <a:prstGeom prst="roundRect">
            <a:avLst>
              <a:gd name="adj" fmla="val 10606"/>
            </a:avLst>
          </a:prstGeom>
          <a:solidFill>
            <a:srgbClr val="151B3D"/>
          </a:solidFill>
          <a:ln w="15875">
            <a:solidFill>
              <a:srgbClr val="7AA2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2514600" y="41788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Kalıcılık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2468880" y="446227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(zaman çizelgesi · checkpoint · hafıza)  +  ChromaDB (vektör)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7432" cy="27432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280160" y="109728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103120" y="365760"/>
            <a:ext cx="22860" cy="22860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834640" y="146304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657600" y="640080"/>
            <a:ext cx="27432" cy="27432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754880" y="27432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577840" y="1005840"/>
            <a:ext cx="22860" cy="22860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400800" y="45720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498080" y="1280160"/>
            <a:ext cx="27432" cy="27432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0" y="54864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595360" y="2011680"/>
            <a:ext cx="22860" cy="22860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65760" y="256032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955280" y="3108960"/>
            <a:ext cx="27432" cy="27432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503920" y="420624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4480560"/>
            <a:ext cx="22860" cy="22860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737360" y="466344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108960" y="402336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035040" y="4572000"/>
            <a:ext cx="22860" cy="22860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0" y="429768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377440" y="265176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86460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Yerel Çoklu-Agent Yazılım Geliştirme Takımı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321040" y="4846320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1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AA2F7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ÇEKIRDEK · AKIŞ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530352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LangGraph Akış Diyagramı</a:t>
            </a:r>
            <a:endParaRPr lang="en-US" sz="2900" dirty="0"/>
          </a:p>
        </p:txBody>
      </p:sp>
      <p:sp>
        <p:nvSpPr>
          <p:cNvPr id="27" name="Shape 25"/>
          <p:cNvSpPr/>
          <p:nvPr/>
        </p:nvSpPr>
        <p:spPr>
          <a:xfrm>
            <a:off x="365760" y="2331720"/>
            <a:ext cx="749808" cy="914400"/>
          </a:xfrm>
          <a:prstGeom prst="roundRect">
            <a:avLst>
              <a:gd name="adj" fmla="val 9756"/>
            </a:avLst>
          </a:prstGeom>
          <a:solidFill>
            <a:srgbClr val="1C2349"/>
          </a:solidFill>
          <a:ln w="19050">
            <a:solidFill>
              <a:srgbClr val="7AA2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94360" y="2450592"/>
            <a:ext cx="292608" cy="292608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2450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84048" y="2807208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Intake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225296" y="2331720"/>
            <a:ext cx="749808" cy="914400"/>
          </a:xfrm>
          <a:prstGeom prst="roundRect">
            <a:avLst>
              <a:gd name="adj" fmla="val 9756"/>
            </a:avLst>
          </a:prstGeom>
          <a:solidFill>
            <a:srgbClr val="1C2349"/>
          </a:solidFill>
          <a:ln w="19050">
            <a:solidFill>
              <a:srgbClr val="7AA2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453896" y="2450592"/>
            <a:ext cx="292608" cy="292608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33" name="Text 31"/>
          <p:cNvSpPr/>
          <p:nvPr/>
        </p:nvSpPr>
        <p:spPr>
          <a:xfrm>
            <a:off x="1453896" y="2450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243584" y="2807208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Brief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084832" y="2331720"/>
            <a:ext cx="749808" cy="914400"/>
          </a:xfrm>
          <a:prstGeom prst="roundRect">
            <a:avLst>
              <a:gd name="adj" fmla="val 9756"/>
            </a:avLst>
          </a:prstGeom>
          <a:solidFill>
            <a:srgbClr val="1C2349"/>
          </a:solidFill>
          <a:ln w="19050">
            <a:solidFill>
              <a:srgbClr val="2DD4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313432" y="2450592"/>
            <a:ext cx="292608" cy="29260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7" name="Text 35"/>
          <p:cNvSpPr/>
          <p:nvPr/>
        </p:nvSpPr>
        <p:spPr>
          <a:xfrm>
            <a:off x="2313432" y="2450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103120" y="2807208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Classifier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944368" y="2331720"/>
            <a:ext cx="749808" cy="914400"/>
          </a:xfrm>
          <a:prstGeom prst="roundRect">
            <a:avLst>
              <a:gd name="adj" fmla="val 9756"/>
            </a:avLst>
          </a:prstGeom>
          <a:solidFill>
            <a:srgbClr val="1C2349"/>
          </a:solidFill>
          <a:ln w="19050">
            <a:solidFill>
              <a:srgbClr val="2DD4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172968" y="2450592"/>
            <a:ext cx="292608" cy="29260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41" name="Text 39"/>
          <p:cNvSpPr/>
          <p:nvPr/>
        </p:nvSpPr>
        <p:spPr>
          <a:xfrm>
            <a:off x="3172968" y="2450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962656" y="2807208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803904" y="2331720"/>
            <a:ext cx="749808" cy="914400"/>
          </a:xfrm>
          <a:prstGeom prst="roundRect">
            <a:avLst>
              <a:gd name="adj" fmla="val 9756"/>
            </a:avLst>
          </a:prstGeom>
          <a:solidFill>
            <a:srgbClr val="1C2349"/>
          </a:solidFill>
          <a:ln w="19050">
            <a:solidFill>
              <a:srgbClr val="E0AF6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032504" y="2450592"/>
            <a:ext cx="292608" cy="292608"/>
          </a:xfrm>
          <a:prstGeom prst="ellipse">
            <a:avLst/>
          </a:prstGeom>
          <a:solidFill>
            <a:srgbClr val="E0AF68"/>
          </a:solidFill>
          <a:ln/>
        </p:spPr>
      </p:sp>
      <p:sp>
        <p:nvSpPr>
          <p:cNvPr id="45" name="Text 43"/>
          <p:cNvSpPr/>
          <p:nvPr/>
        </p:nvSpPr>
        <p:spPr>
          <a:xfrm>
            <a:off x="4032504" y="2450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822192" y="2807208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Analyst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663440" y="2331720"/>
            <a:ext cx="749808" cy="914400"/>
          </a:xfrm>
          <a:prstGeom prst="roundRect">
            <a:avLst>
              <a:gd name="adj" fmla="val 9756"/>
            </a:avLst>
          </a:prstGeom>
          <a:solidFill>
            <a:srgbClr val="1C2349"/>
          </a:solidFill>
          <a:ln w="19050">
            <a:solidFill>
              <a:srgbClr val="F7768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892040" y="2450592"/>
            <a:ext cx="292608" cy="292608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49" name="Text 47"/>
          <p:cNvSpPr/>
          <p:nvPr/>
        </p:nvSpPr>
        <p:spPr>
          <a:xfrm>
            <a:off x="4892040" y="2450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681728" y="2807208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Developer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522976" y="2331720"/>
            <a:ext cx="749808" cy="914400"/>
          </a:xfrm>
          <a:prstGeom prst="roundRect">
            <a:avLst>
              <a:gd name="adj" fmla="val 9756"/>
            </a:avLst>
          </a:prstGeom>
          <a:solidFill>
            <a:srgbClr val="1C2349"/>
          </a:solidFill>
          <a:ln w="19050">
            <a:solidFill>
              <a:srgbClr val="F7768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5751576" y="2450592"/>
            <a:ext cx="292608" cy="292608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53" name="Text 51"/>
          <p:cNvSpPr/>
          <p:nvPr/>
        </p:nvSpPr>
        <p:spPr>
          <a:xfrm>
            <a:off x="5751576" y="2450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541264" y="2807208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Reviewer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382512" y="2331720"/>
            <a:ext cx="749808" cy="914400"/>
          </a:xfrm>
          <a:prstGeom prst="roundRect">
            <a:avLst>
              <a:gd name="adj" fmla="val 9756"/>
            </a:avLst>
          </a:prstGeom>
          <a:solidFill>
            <a:srgbClr val="1C2349"/>
          </a:solidFill>
          <a:ln w="19050">
            <a:solidFill>
              <a:srgbClr val="2DD4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611112" y="2450592"/>
            <a:ext cx="292608" cy="29260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57" name="Text 55"/>
          <p:cNvSpPr/>
          <p:nvPr/>
        </p:nvSpPr>
        <p:spPr>
          <a:xfrm>
            <a:off x="6611112" y="2450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400800" y="2807208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QA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7242048" y="2331720"/>
            <a:ext cx="749808" cy="914400"/>
          </a:xfrm>
          <a:prstGeom prst="roundRect">
            <a:avLst>
              <a:gd name="adj" fmla="val 9756"/>
            </a:avLst>
          </a:prstGeom>
          <a:solidFill>
            <a:srgbClr val="1C2349"/>
          </a:solidFill>
          <a:ln w="19050">
            <a:solidFill>
              <a:srgbClr val="E0AF6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7470648" y="2450592"/>
            <a:ext cx="292608" cy="292608"/>
          </a:xfrm>
          <a:prstGeom prst="ellipse">
            <a:avLst/>
          </a:prstGeom>
          <a:solidFill>
            <a:srgbClr val="E0AF68"/>
          </a:solidFill>
          <a:ln/>
        </p:spPr>
      </p:sp>
      <p:sp>
        <p:nvSpPr>
          <p:cNvPr id="61" name="Text 59"/>
          <p:cNvSpPr/>
          <p:nvPr/>
        </p:nvSpPr>
        <p:spPr>
          <a:xfrm>
            <a:off x="7470648" y="2450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7260336" y="2807208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Supervisor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8101584" y="2331720"/>
            <a:ext cx="749808" cy="914400"/>
          </a:xfrm>
          <a:prstGeom prst="roundRect">
            <a:avLst>
              <a:gd name="adj" fmla="val 9756"/>
            </a:avLst>
          </a:prstGeom>
          <a:solidFill>
            <a:srgbClr val="1C2349"/>
          </a:solidFill>
          <a:ln w="19050">
            <a:solidFill>
              <a:srgbClr val="7AA2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8330184" y="2450592"/>
            <a:ext cx="292608" cy="292608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65" name="Text 63"/>
          <p:cNvSpPr/>
          <p:nvPr/>
        </p:nvSpPr>
        <p:spPr>
          <a:xfrm>
            <a:off x="8330184" y="2450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8119872" y="2807208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Integrator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1115568" y="2788920"/>
            <a:ext cx="109728" cy="0"/>
          </a:xfrm>
          <a:prstGeom prst="line">
            <a:avLst/>
          </a:prstGeom>
          <a:noFill/>
          <a:ln w="19050">
            <a:solidFill>
              <a:srgbClr val="6B73A6"/>
            </a:solidFill>
            <a:prstDash val="solid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1975104" y="2788920"/>
            <a:ext cx="109728" cy="0"/>
          </a:xfrm>
          <a:prstGeom prst="line">
            <a:avLst/>
          </a:prstGeom>
          <a:noFill/>
          <a:ln w="19050">
            <a:solidFill>
              <a:srgbClr val="6B73A6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2834640" y="2788920"/>
            <a:ext cx="109728" cy="0"/>
          </a:xfrm>
          <a:prstGeom prst="line">
            <a:avLst/>
          </a:prstGeom>
          <a:noFill/>
          <a:ln w="19050">
            <a:solidFill>
              <a:srgbClr val="6B73A6"/>
            </a:solidFill>
            <a:prstDash val="solid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3694176" y="2788920"/>
            <a:ext cx="109728" cy="0"/>
          </a:xfrm>
          <a:prstGeom prst="line">
            <a:avLst/>
          </a:prstGeom>
          <a:noFill/>
          <a:ln w="19050">
            <a:solidFill>
              <a:srgbClr val="6B73A6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4553712" y="2788920"/>
            <a:ext cx="109728" cy="0"/>
          </a:xfrm>
          <a:prstGeom prst="line">
            <a:avLst/>
          </a:prstGeom>
          <a:noFill/>
          <a:ln w="19050">
            <a:solidFill>
              <a:srgbClr val="6B73A6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5413248" y="2788920"/>
            <a:ext cx="109728" cy="0"/>
          </a:xfrm>
          <a:prstGeom prst="line">
            <a:avLst/>
          </a:prstGeom>
          <a:noFill/>
          <a:ln w="19050">
            <a:solidFill>
              <a:srgbClr val="6B73A6"/>
            </a:solidFill>
            <a:prstDash val="solid"/>
            <a:tailEnd type="triangle"/>
          </a:ln>
        </p:spPr>
      </p:sp>
      <p:sp>
        <p:nvSpPr>
          <p:cNvPr id="73" name="Shape 71"/>
          <p:cNvSpPr/>
          <p:nvPr/>
        </p:nvSpPr>
        <p:spPr>
          <a:xfrm>
            <a:off x="6272784" y="2788920"/>
            <a:ext cx="109728" cy="0"/>
          </a:xfrm>
          <a:prstGeom prst="line">
            <a:avLst/>
          </a:prstGeom>
          <a:noFill/>
          <a:ln w="19050">
            <a:solidFill>
              <a:srgbClr val="6B73A6"/>
            </a:solidFill>
            <a:prstDash val="solid"/>
            <a:tailEnd type="triangle"/>
          </a:ln>
        </p:spPr>
      </p:sp>
      <p:sp>
        <p:nvSpPr>
          <p:cNvPr id="74" name="Shape 72"/>
          <p:cNvSpPr/>
          <p:nvPr/>
        </p:nvSpPr>
        <p:spPr>
          <a:xfrm>
            <a:off x="7132320" y="2788920"/>
            <a:ext cx="109728" cy="0"/>
          </a:xfrm>
          <a:prstGeom prst="line">
            <a:avLst/>
          </a:prstGeom>
          <a:noFill/>
          <a:ln w="19050">
            <a:solidFill>
              <a:srgbClr val="6B73A6"/>
            </a:solidFill>
            <a:prstDash val="solid"/>
            <a:tailEnd type="triangle"/>
          </a:ln>
        </p:spPr>
      </p:sp>
      <p:sp>
        <p:nvSpPr>
          <p:cNvPr id="75" name="Shape 73"/>
          <p:cNvSpPr/>
          <p:nvPr/>
        </p:nvSpPr>
        <p:spPr>
          <a:xfrm>
            <a:off x="7991856" y="2788920"/>
            <a:ext cx="109728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76" name="Shape 74"/>
          <p:cNvSpPr/>
          <p:nvPr/>
        </p:nvSpPr>
        <p:spPr>
          <a:xfrm>
            <a:off x="7616952" y="1874520"/>
            <a:ext cx="0" cy="457200"/>
          </a:xfrm>
          <a:prstGeom prst="line">
            <a:avLst/>
          </a:prstGeom>
          <a:noFill/>
          <a:ln w="22225">
            <a:solidFill>
              <a:srgbClr val="E0AF6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038344" y="1874520"/>
            <a:ext cx="2578608" cy="0"/>
          </a:xfrm>
          <a:prstGeom prst="line">
            <a:avLst/>
          </a:prstGeom>
          <a:noFill/>
          <a:ln w="22225">
            <a:solidFill>
              <a:srgbClr val="E0AF6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038344" y="1874520"/>
            <a:ext cx="0" cy="457200"/>
          </a:xfrm>
          <a:prstGeom prst="line">
            <a:avLst/>
          </a:prstGeom>
          <a:noFill/>
          <a:ln w="22225">
            <a:solidFill>
              <a:srgbClr val="E0AF68"/>
            </a:solidFill>
            <a:prstDash val="solid"/>
            <a:tailEnd type="triangle"/>
          </a:ln>
        </p:spPr>
      </p:sp>
      <p:sp>
        <p:nvSpPr>
          <p:cNvPr id="79" name="Text 77"/>
          <p:cNvSpPr/>
          <p:nvPr/>
        </p:nvSpPr>
        <p:spPr>
          <a:xfrm>
            <a:off x="4489704" y="1517904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A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Sorun var (RUNNING) → yeniden dene · en fazla 3 tur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8476488" y="3246120"/>
            <a:ext cx="0" cy="576072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81" name="Shape 79"/>
          <p:cNvSpPr/>
          <p:nvPr/>
        </p:nvSpPr>
        <p:spPr>
          <a:xfrm>
            <a:off x="8065008" y="3822192"/>
            <a:ext cx="822960" cy="457200"/>
          </a:xfrm>
          <a:prstGeom prst="roundRect">
            <a:avLst>
              <a:gd name="adj" fmla="val 20000"/>
            </a:avLst>
          </a:prstGeom>
          <a:solidFill>
            <a:srgbClr val="151B3D"/>
          </a:solidFill>
          <a:ln w="19050">
            <a:solidFill>
              <a:srgbClr val="7AA2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2" name="Text 80"/>
          <p:cNvSpPr/>
          <p:nvPr/>
        </p:nvSpPr>
        <p:spPr>
          <a:xfrm>
            <a:off x="8065008" y="382219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A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7616952" y="3246120"/>
            <a:ext cx="0" cy="804672"/>
          </a:xfrm>
          <a:prstGeom prst="line">
            <a:avLst/>
          </a:prstGeom>
          <a:noFill/>
          <a:ln w="22225">
            <a:solidFill>
              <a:srgbClr val="F7768E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616952" y="4050792"/>
            <a:ext cx="448056" cy="0"/>
          </a:xfrm>
          <a:prstGeom prst="line">
            <a:avLst/>
          </a:prstGeom>
          <a:noFill/>
          <a:ln w="22225">
            <a:solidFill>
              <a:srgbClr val="F7768E"/>
            </a:solidFill>
            <a:prstDash val="solid"/>
            <a:tailEnd type="triangle"/>
          </a:ln>
        </p:spPr>
      </p:sp>
      <p:sp>
        <p:nvSpPr>
          <p:cNvPr id="85" name="Text 83"/>
          <p:cNvSpPr/>
          <p:nvPr/>
        </p:nvSpPr>
        <p:spPr>
          <a:xfrm>
            <a:off x="457200" y="36118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SUPERVISOR KARARI  ·  koşullu kenar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502920" y="3977640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87" name="Text 85"/>
          <p:cNvSpPr/>
          <p:nvPr/>
        </p:nvSpPr>
        <p:spPr>
          <a:xfrm>
            <a:off x="749808" y="39136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/ uyarılı  </a:t>
            </a:r>
            <a:pPr indent="0" marL="0">
              <a:buNone/>
            </a:pPr>
            <a:r>
              <a:rPr lang="en-US" sz="11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Integrator → END</a:t>
            </a:r>
            <a:endParaRPr lang="en-US" sz="1150" dirty="0"/>
          </a:p>
        </p:txBody>
      </p:sp>
      <p:sp>
        <p:nvSpPr>
          <p:cNvPr id="88" name="Shape 86"/>
          <p:cNvSpPr/>
          <p:nvPr/>
        </p:nvSpPr>
        <p:spPr>
          <a:xfrm>
            <a:off x="502920" y="4251960"/>
            <a:ext cx="146304" cy="146304"/>
          </a:xfrm>
          <a:prstGeom prst="ellipse">
            <a:avLst/>
          </a:prstGeom>
          <a:solidFill>
            <a:srgbClr val="E0AF68"/>
          </a:solidFill>
          <a:ln/>
        </p:spPr>
      </p:sp>
      <p:sp>
        <p:nvSpPr>
          <p:cNvPr id="89" name="Text 87"/>
          <p:cNvSpPr/>
          <p:nvPr/>
        </p:nvSpPr>
        <p:spPr>
          <a:xfrm>
            <a:off x="749808" y="41879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 </a:t>
            </a:r>
            <a:pPr indent="0" marL="0">
              <a:buNone/>
            </a:pPr>
            <a:r>
              <a:rPr lang="en-US" sz="11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Developer'a dön (döngü)</a:t>
            </a:r>
            <a:endParaRPr lang="en-US" sz="1150" dirty="0"/>
          </a:p>
        </p:txBody>
      </p:sp>
      <p:sp>
        <p:nvSpPr>
          <p:cNvPr id="90" name="Shape 88"/>
          <p:cNvSpPr/>
          <p:nvPr/>
        </p:nvSpPr>
        <p:spPr>
          <a:xfrm>
            <a:off x="502920" y="4526280"/>
            <a:ext cx="146304" cy="146304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91" name="Text 89"/>
          <p:cNvSpPr/>
          <p:nvPr/>
        </p:nvSpPr>
        <p:spPr>
          <a:xfrm>
            <a:off x="749808" y="44622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iptal / max tur  </a:t>
            </a:r>
            <a:pPr indent="0" marL="0">
              <a:buNone/>
            </a:pPr>
            <a:r>
              <a:rPr lang="en-US" sz="11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END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7432" cy="27432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280160" y="109728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103120" y="365760"/>
            <a:ext cx="22860" cy="22860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834640" y="146304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657600" y="640080"/>
            <a:ext cx="27432" cy="27432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754880" y="27432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577840" y="1005840"/>
            <a:ext cx="22860" cy="22860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400800" y="45720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498080" y="1280160"/>
            <a:ext cx="27432" cy="27432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0" y="54864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595360" y="2011680"/>
            <a:ext cx="22860" cy="22860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65760" y="256032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955280" y="3108960"/>
            <a:ext cx="27432" cy="27432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503920" y="420624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4480560"/>
            <a:ext cx="22860" cy="22860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737360" y="466344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108960" y="402336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035040" y="4572000"/>
            <a:ext cx="22860" cy="22860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0" y="429768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377440" y="265176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86460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Yerel Çoklu-Agent Yazılım Geliştirme Takımı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321040" y="4846320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1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AA2F7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KONTROL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530352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Deterministik Supervisor</a:t>
            </a:r>
            <a:endParaRPr lang="en-US" sz="2900" dirty="0"/>
          </a:p>
        </p:txBody>
      </p:sp>
      <p:sp>
        <p:nvSpPr>
          <p:cNvPr id="27" name="Text 25"/>
          <p:cNvSpPr/>
          <p:nvPr/>
        </p:nvSpPr>
        <p:spPr>
          <a:xfrm>
            <a:off x="548640" y="13258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değil — kural tabanlı bir karar düğümü. Sonsuz döngüyü ve maliyeti önler.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48640" y="1828800"/>
            <a:ext cx="3886200" cy="1280160"/>
          </a:xfrm>
          <a:prstGeom prst="roundRect">
            <a:avLst>
              <a:gd name="adj" fmla="val 5714"/>
            </a:avLst>
          </a:prstGeom>
          <a:solidFill>
            <a:srgbClr val="1C2349"/>
          </a:solidFill>
          <a:ln w="12700">
            <a:solidFill>
              <a:srgbClr val="2A33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1938528"/>
            <a:ext cx="73152" cy="1060704"/>
          </a:xfrm>
          <a:prstGeom prst="rect">
            <a:avLst/>
          </a:prstGeom>
          <a:solidFill>
            <a:srgbClr val="F7768E"/>
          </a:solidFill>
          <a:ln/>
        </p:spPr>
      </p:sp>
      <p:sp>
        <p:nvSpPr>
          <p:cNvPr id="30" name="Text 28"/>
          <p:cNvSpPr/>
          <p:nvPr/>
        </p:nvSpPr>
        <p:spPr>
          <a:xfrm>
            <a:off x="804672" y="1975104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Sadece kritik sayar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04672" y="2359152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Yalnızca BLOCKER + MAJOR bulguları engel sayar; küçük uyarılar akışı durdurmaz.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709160" y="1828800"/>
            <a:ext cx="3886200" cy="1280160"/>
          </a:xfrm>
          <a:prstGeom prst="roundRect">
            <a:avLst>
              <a:gd name="adj" fmla="val 5714"/>
            </a:avLst>
          </a:prstGeom>
          <a:solidFill>
            <a:srgbClr val="1C2349"/>
          </a:solidFill>
          <a:ln w="12700">
            <a:solidFill>
              <a:srgbClr val="2A33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1938528"/>
            <a:ext cx="73152" cy="1060704"/>
          </a:xfrm>
          <a:prstGeom prst="rect">
            <a:avLst/>
          </a:prstGeom>
          <a:solidFill>
            <a:srgbClr val="E0AF68"/>
          </a:solidFill>
          <a:ln/>
        </p:spPr>
      </p:sp>
      <p:sp>
        <p:nvSpPr>
          <p:cNvPr id="34" name="Text 32"/>
          <p:cNvSpPr/>
          <p:nvPr/>
        </p:nvSpPr>
        <p:spPr>
          <a:xfrm>
            <a:off x="4965192" y="1975104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İlerleme takibi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965192" y="2359152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Sorun sayısı azalmıyorsa (salınım) durur — boşa tur harcamaz.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48640" y="3383280"/>
            <a:ext cx="3886200" cy="1280160"/>
          </a:xfrm>
          <a:prstGeom prst="roundRect">
            <a:avLst>
              <a:gd name="adj" fmla="val 5714"/>
            </a:avLst>
          </a:prstGeom>
          <a:solidFill>
            <a:srgbClr val="1C2349"/>
          </a:solidFill>
          <a:ln w="12700">
            <a:solidFill>
              <a:srgbClr val="2A33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48640" y="3493008"/>
            <a:ext cx="73152" cy="106070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8" name="Text 36"/>
          <p:cNvSpPr/>
          <p:nvPr/>
        </p:nvSpPr>
        <p:spPr>
          <a:xfrm>
            <a:off x="804672" y="3529584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 iyi denemeyi korur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04672" y="3913632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Turlar arasında en iyi kod sürümünü saklar; kötüye gitmez.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4709160" y="3383280"/>
            <a:ext cx="3886200" cy="1280160"/>
          </a:xfrm>
          <a:prstGeom prst="roundRect">
            <a:avLst>
              <a:gd name="adj" fmla="val 5714"/>
            </a:avLst>
          </a:prstGeom>
          <a:solidFill>
            <a:srgbClr val="1C2349"/>
          </a:solidFill>
          <a:ln w="12700">
            <a:solidFill>
              <a:srgbClr val="2A33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09160" y="3493008"/>
            <a:ext cx="73152" cy="1060704"/>
          </a:xfrm>
          <a:prstGeom prst="rect">
            <a:avLst/>
          </a:prstGeom>
          <a:solidFill>
            <a:srgbClr val="7AA2F7"/>
          </a:solidFill>
          <a:ln/>
        </p:spPr>
      </p:sp>
      <p:sp>
        <p:nvSpPr>
          <p:cNvPr id="42" name="Text 40"/>
          <p:cNvSpPr/>
          <p:nvPr/>
        </p:nvSpPr>
        <p:spPr>
          <a:xfrm>
            <a:off x="4965192" y="3529584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Testler geçtiyse teslim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965192" y="3913632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uyarısı kalsa da testler yeşilse “uyarılarla tamamlandı” olur.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7432" cy="27432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280160" y="109728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103120" y="365760"/>
            <a:ext cx="22860" cy="22860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834640" y="146304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657600" y="640080"/>
            <a:ext cx="27432" cy="27432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754880" y="27432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577840" y="1005840"/>
            <a:ext cx="22860" cy="22860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400800" y="45720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498080" y="1280160"/>
            <a:ext cx="27432" cy="27432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0" y="54864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595360" y="2011680"/>
            <a:ext cx="22860" cy="22860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65760" y="256032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955280" y="3108960"/>
            <a:ext cx="27432" cy="27432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503920" y="420624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4480560"/>
            <a:ext cx="22860" cy="22860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737360" y="466344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108960" y="402336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035040" y="4572000"/>
            <a:ext cx="22860" cy="22860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0" y="429768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377440" y="265176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86460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Yerel Çoklu-Agent Yazılım Geliştirme Takımı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321040" y="4846320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1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AA2F7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BEYIN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530352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Yetenek-Bazlı LLM Havuzu</a:t>
            </a:r>
            <a:endParaRPr lang="en-US" sz="2900" dirty="0"/>
          </a:p>
        </p:txBody>
      </p:sp>
      <p:sp>
        <p:nvSpPr>
          <p:cNvPr id="27" name="Shape 25"/>
          <p:cNvSpPr/>
          <p:nvPr/>
        </p:nvSpPr>
        <p:spPr>
          <a:xfrm>
            <a:off x="548640" y="1371600"/>
            <a:ext cx="1591056" cy="1143000"/>
          </a:xfrm>
          <a:prstGeom prst="roundRect">
            <a:avLst>
              <a:gd name="adj" fmla="val 6400"/>
            </a:avLst>
          </a:prstGeom>
          <a:solidFill>
            <a:srgbClr val="1C2349"/>
          </a:solidFill>
          <a:ln w="12700">
            <a:solidFill>
              <a:srgbClr val="7AA2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0080" y="148132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21792" y="1792224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Sohbet / yönlendirme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03504" y="221284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9B1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qwen2.5:14b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249424" y="1371600"/>
            <a:ext cx="1591056" cy="1143000"/>
          </a:xfrm>
          <a:prstGeom prst="roundRect">
            <a:avLst>
              <a:gd name="adj" fmla="val 6400"/>
            </a:avLst>
          </a:prstGeom>
          <a:solidFill>
            <a:srgbClr val="1C2349"/>
          </a:solidFill>
          <a:ln w="12700">
            <a:solidFill>
              <a:srgbClr val="7AA2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340864" y="148132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CODER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2322576" y="1792224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üretimi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304288" y="221284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9B1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qwen2.5-coder:14b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950208" y="1371600"/>
            <a:ext cx="1591056" cy="1143000"/>
          </a:xfrm>
          <a:prstGeom prst="roundRect">
            <a:avLst>
              <a:gd name="adj" fmla="val 6400"/>
            </a:avLst>
          </a:prstGeom>
          <a:solidFill>
            <a:srgbClr val="1C2349"/>
          </a:solidFill>
          <a:ln w="12700">
            <a:solidFill>
              <a:srgbClr val="7AA2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041648" y="148132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REASONER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023360" y="1792224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 analiz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005072" y="221284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9B1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qwen2.5-coder:14b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650992" y="1371600"/>
            <a:ext cx="1591056" cy="1143000"/>
          </a:xfrm>
          <a:prstGeom prst="roundRect">
            <a:avLst>
              <a:gd name="adj" fmla="val 6400"/>
            </a:avLst>
          </a:prstGeom>
          <a:solidFill>
            <a:srgbClr val="1C2349"/>
          </a:solidFill>
          <a:ln w="12700">
            <a:solidFill>
              <a:srgbClr val="7AA2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742432" y="148132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VISION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5724144" y="1792224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 anlama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705856" y="221284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9B1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qwen2.5vl:7b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351776" y="1371600"/>
            <a:ext cx="1591056" cy="1143000"/>
          </a:xfrm>
          <a:prstGeom prst="roundRect">
            <a:avLst>
              <a:gd name="adj" fmla="val 6400"/>
            </a:avLst>
          </a:prstGeom>
          <a:solidFill>
            <a:srgbClr val="1C2349"/>
          </a:solidFill>
          <a:ln w="12700">
            <a:solidFill>
              <a:srgbClr val="7AA2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7443216" y="148132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FALLBACK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7424928" y="1792224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Acil yedek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406640" y="221284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9B1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qwen2.5:14b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48640" y="2743200"/>
            <a:ext cx="3886200" cy="1371600"/>
          </a:xfrm>
          <a:prstGeom prst="roundRect">
            <a:avLst>
              <a:gd name="adj" fmla="val 5333"/>
            </a:avLst>
          </a:prstGeom>
          <a:solidFill>
            <a:srgbClr val="1C2349"/>
          </a:solidFill>
          <a:ln w="12700">
            <a:solidFill>
              <a:srgbClr val="2A33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777240" y="28712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YEREL (Varsayılan)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77240" y="3182112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· Qwen2.5 ailesi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Tamamen yerelde çalışır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code_backend = "ollama"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4709160" y="2743200"/>
            <a:ext cx="3886200" cy="1371600"/>
          </a:xfrm>
          <a:prstGeom prst="roundRect">
            <a:avLst>
              <a:gd name="adj" fmla="val 5333"/>
            </a:avLst>
          </a:prstGeom>
          <a:solidFill>
            <a:srgbClr val="1C2349"/>
          </a:solidFill>
          <a:ln w="12700">
            <a:solidFill>
              <a:srgbClr val="2A33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937760" y="28712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AF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(Opsiyonel)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937760" y="3182112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claude-sonnet-4-6 — yüksek kalite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Arayüzden istek başına seçilir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anahtarı yoksa otomatik kapalı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48640" y="427939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Dayanıklılık: </a:t>
            </a:r>
            <a:pPr algn="ctr" indent="0" marL="0">
              <a:buNone/>
            </a:pPr>
            <a:r>
              <a:rPr lang="en-US" sz="12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devre kesici (circuit breaker) · yeniden deneme · sağlık kontrolü · tek seferlik ısıtma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7432" cy="27432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280160" y="109728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103120" y="365760"/>
            <a:ext cx="22860" cy="22860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834640" y="146304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657600" y="640080"/>
            <a:ext cx="27432" cy="27432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754880" y="27432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577840" y="1005840"/>
            <a:ext cx="22860" cy="22860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400800" y="45720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498080" y="1280160"/>
            <a:ext cx="27432" cy="27432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0" y="54864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595360" y="2011680"/>
            <a:ext cx="22860" cy="22860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65760" y="256032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955280" y="3108960"/>
            <a:ext cx="27432" cy="27432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503920" y="420624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4480560"/>
            <a:ext cx="22860" cy="22860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737360" y="466344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108960" y="402336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035040" y="4572000"/>
            <a:ext cx="22860" cy="22860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0" y="429768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377440" y="265176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86460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Yerel Çoklu-Agent Yazılım Geliştirme Takımı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321040" y="4846320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1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AA2F7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BILGI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530352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— Bağlamla Beslenen Üretim</a:t>
            </a:r>
            <a:endParaRPr lang="en-US" sz="2900" dirty="0"/>
          </a:p>
        </p:txBody>
      </p:sp>
      <p:sp>
        <p:nvSpPr>
          <p:cNvPr id="27" name="Shape 25"/>
          <p:cNvSpPr/>
          <p:nvPr/>
        </p:nvSpPr>
        <p:spPr>
          <a:xfrm>
            <a:off x="548640" y="1417320"/>
            <a:ext cx="4023360" cy="3154680"/>
          </a:xfrm>
          <a:prstGeom prst="roundRect">
            <a:avLst>
              <a:gd name="adj" fmla="val 2319"/>
            </a:avLst>
          </a:prstGeom>
          <a:solidFill>
            <a:srgbClr val="151B3D"/>
          </a:solidFill>
          <a:ln w="12700">
            <a:solidFill>
              <a:srgbClr val="2A33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77240" y="1572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NASIL ÇALIŞIR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2960" y="1975104"/>
            <a:ext cx="237744" cy="237744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19751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70432" y="1920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Belgeler  </a:t>
            </a:r>
            <a:pPr indent="0" marL="0">
              <a:buNone/>
            </a:pPr>
            <a:r>
              <a:rPr lang="en-US" sz="12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 → 500 token'lık parçalar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22960" y="2478024"/>
            <a:ext cx="237744" cy="237744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" y="24780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70432" y="2423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Gömme (embed)  </a:t>
            </a:r>
            <a:pPr indent="0" marL="0">
              <a:buNone/>
            </a:pPr>
            <a:r>
              <a:rPr lang="en-US" sz="12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nomic-embed-text · asimetrik önekler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22960" y="2980944"/>
            <a:ext cx="237744" cy="237744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29809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70432" y="2926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 </a:t>
            </a:r>
            <a:pPr indent="0" marL="0">
              <a:buNone/>
            </a:pPr>
            <a:r>
              <a:rPr lang="en-US" sz="12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kalıcı vektör deposu · cosine uzaklık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22960" y="3483864"/>
            <a:ext cx="237744" cy="237744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39" name="Text 37"/>
          <p:cNvSpPr/>
          <p:nvPr/>
        </p:nvSpPr>
        <p:spPr>
          <a:xfrm>
            <a:off x="822960" y="34838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70432" y="3429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İlgi filtresi  </a:t>
            </a:r>
            <a:pPr indent="0" marL="0">
              <a:buNone/>
            </a:pPr>
            <a:r>
              <a:rPr lang="en-US" sz="12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uzaklık &gt; 0.6 olan parçalar elenir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22960" y="3986784"/>
            <a:ext cx="237744" cy="237744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42" name="Text 40"/>
          <p:cNvSpPr/>
          <p:nvPr/>
        </p:nvSpPr>
        <p:spPr>
          <a:xfrm>
            <a:off x="822960" y="39867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170432" y="3931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filtresi  </a:t>
            </a:r>
            <a:pPr indent="0" marL="0">
              <a:buNone/>
            </a:pPr>
            <a:r>
              <a:rPr lang="en-US" sz="12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göre kaynak seçimi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800600" y="1417320"/>
            <a:ext cx="3794760" cy="1481328"/>
          </a:xfrm>
          <a:prstGeom prst="roundRect">
            <a:avLst>
              <a:gd name="adj" fmla="val 4938"/>
            </a:avLst>
          </a:prstGeom>
          <a:solidFill>
            <a:srgbClr val="1C2349"/>
          </a:solidFill>
          <a:ln w="12700">
            <a:solidFill>
              <a:srgbClr val="2A33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029200" y="1554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İki Koleksiyon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5029200" y="192024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—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kodlama standartları, mimari, güvenlik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project_memory — </a:t>
            </a:r>
            <a:pPr indent="0" marL="0">
              <a:buNone/>
            </a:pPr>
            <a:r>
              <a:rPr lang="en-US" sz="12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projeye özel anlamsal hafıza (maks 200 parça)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4800600" y="3090672"/>
            <a:ext cx="3794760" cy="1481328"/>
          </a:xfrm>
          <a:prstGeom prst="roundRect">
            <a:avLst>
              <a:gd name="adj" fmla="val 4938"/>
            </a:avLst>
          </a:prstGeom>
          <a:solidFill>
            <a:srgbClr val="1C2349"/>
          </a:solidFill>
          <a:ln w="12700">
            <a:solidFill>
              <a:srgbClr val="2A33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5029200" y="32278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Güvenli Tasarım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5029200" y="3547872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Sürümlü indeks — model değişince güvenli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Bilgi yoksa zarif düşüş, akış sürer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Gürültülü sohbet parçaları indekslenmez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7432" cy="27432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280160" y="109728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103120" y="365760"/>
            <a:ext cx="22860" cy="22860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834640" y="146304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657600" y="640080"/>
            <a:ext cx="27432" cy="27432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754880" y="27432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577840" y="1005840"/>
            <a:ext cx="22860" cy="22860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400800" y="45720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498080" y="1280160"/>
            <a:ext cx="27432" cy="27432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0" y="54864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595360" y="2011680"/>
            <a:ext cx="22860" cy="22860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65760" y="256032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955280" y="3108960"/>
            <a:ext cx="27432" cy="27432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503920" y="420624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4480560"/>
            <a:ext cx="22860" cy="22860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737360" y="466344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108960" y="402336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035040" y="4572000"/>
            <a:ext cx="22860" cy="22860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0" y="429768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377440" y="265176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86460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Yerel Çoklu-Agent Yazılım Geliştirme Takımı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321040" y="4846320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1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AA2F7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EYLEM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530352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Çalışma Alanı ve Güvenlik</a:t>
            </a:r>
            <a:endParaRPr lang="en-US" sz="2900" dirty="0"/>
          </a:p>
        </p:txBody>
      </p:sp>
      <p:sp>
        <p:nvSpPr>
          <p:cNvPr id="27" name="Text 25"/>
          <p:cNvSpPr/>
          <p:nvPr/>
        </p:nvSpPr>
        <p:spPr>
          <a:xfrm>
            <a:off x="548640" y="13258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dosya sistemine doğrudan dokunmaz — her şey sınırlandırılmış MCP araçlarından geçer.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48640" y="1828800"/>
            <a:ext cx="1874520" cy="566928"/>
          </a:xfrm>
          <a:prstGeom prst="roundRect">
            <a:avLst>
              <a:gd name="adj" fmla="val 9677"/>
            </a:avLst>
          </a:prstGeom>
          <a:solidFill>
            <a:srgbClr val="1C2349"/>
          </a:solidFill>
          <a:ln w="12700">
            <a:solidFill>
              <a:srgbClr val="2A33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182880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7AA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write_file()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587752" y="1828800"/>
            <a:ext cx="1874520" cy="566928"/>
          </a:xfrm>
          <a:prstGeom prst="roundRect">
            <a:avLst>
              <a:gd name="adj" fmla="val 9677"/>
            </a:avLst>
          </a:prstGeom>
          <a:solidFill>
            <a:srgbClr val="1C2349"/>
          </a:solidFill>
          <a:ln w="12700">
            <a:solidFill>
              <a:srgbClr val="2A33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87752" y="182880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7AA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read_file()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626864" y="1828800"/>
            <a:ext cx="1874520" cy="566928"/>
          </a:xfrm>
          <a:prstGeom prst="roundRect">
            <a:avLst>
              <a:gd name="adj" fmla="val 9677"/>
            </a:avLst>
          </a:prstGeom>
          <a:solidFill>
            <a:srgbClr val="1C2349"/>
          </a:solidFill>
          <a:ln w="12700">
            <a:solidFill>
              <a:srgbClr val="2A33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26864" y="182880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7AA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list_files()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665976" y="1828800"/>
            <a:ext cx="1874520" cy="566928"/>
          </a:xfrm>
          <a:prstGeom prst="roundRect">
            <a:avLst>
              <a:gd name="adj" fmla="val 9677"/>
            </a:avLst>
          </a:prstGeom>
          <a:solidFill>
            <a:srgbClr val="1C2349"/>
          </a:solidFill>
          <a:ln w="12700">
            <a:solidFill>
              <a:srgbClr val="2A33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65976" y="182880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7AA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search_text()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48640" y="2560320"/>
            <a:ext cx="1874520" cy="566928"/>
          </a:xfrm>
          <a:prstGeom prst="roundRect">
            <a:avLst>
              <a:gd name="adj" fmla="val 9677"/>
            </a:avLst>
          </a:prstGeom>
          <a:solidFill>
            <a:srgbClr val="1C2349"/>
          </a:solidFill>
          <a:ln w="12700">
            <a:solidFill>
              <a:srgbClr val="2A33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256032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7AA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git_status()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2587752" y="2560320"/>
            <a:ext cx="1874520" cy="566928"/>
          </a:xfrm>
          <a:prstGeom prst="roundRect">
            <a:avLst>
              <a:gd name="adj" fmla="val 9677"/>
            </a:avLst>
          </a:prstGeom>
          <a:solidFill>
            <a:srgbClr val="1C2349"/>
          </a:solidFill>
          <a:ln w="12700">
            <a:solidFill>
              <a:srgbClr val="2A33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87752" y="256032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7AA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git_diff()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4626864" y="2560320"/>
            <a:ext cx="1874520" cy="566928"/>
          </a:xfrm>
          <a:prstGeom prst="roundRect">
            <a:avLst>
              <a:gd name="adj" fmla="val 9677"/>
            </a:avLst>
          </a:prstGeom>
          <a:solidFill>
            <a:srgbClr val="1C2349"/>
          </a:solidFill>
          <a:ln w="12700">
            <a:solidFill>
              <a:srgbClr val="2A336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26864" y="256032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7AA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run_pytest()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6665976" y="2560320"/>
            <a:ext cx="1874520" cy="566928"/>
          </a:xfrm>
          <a:prstGeom prst="roundRect">
            <a:avLst>
              <a:gd name="adj" fmla="val 9677"/>
            </a:avLst>
          </a:prstGeom>
          <a:solidFill>
            <a:srgbClr val="1C2349"/>
          </a:solidFill>
          <a:ln w="12700">
            <a:solidFill>
              <a:srgbClr val="2A336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65976" y="256032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7AA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run_node_tests()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548640" y="3474720"/>
            <a:ext cx="8046720" cy="1143000"/>
          </a:xfrm>
          <a:prstGeom prst="roundRect">
            <a:avLst>
              <a:gd name="adj" fmla="val 6400"/>
            </a:avLst>
          </a:prstGeom>
          <a:solidFill>
            <a:srgbClr val="151B3D"/>
          </a:solidFill>
          <a:ln w="12700">
            <a:solidFill>
              <a:srgbClr val="2A33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777240" y="36027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76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GÜVENLİK SINIRLARI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77240" y="3913632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yollar çalışma kökü içinde — dizin dışına çıkış yok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Sadece pytest / node test çalıştırılabilir — keyfi komut yok · her teste zaman aşımı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Üretilen kod önce önizlenir, kullanıcı onaylayınca uygulanır (apply token)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7432" cy="27432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280160" y="109728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103120" y="365760"/>
            <a:ext cx="22860" cy="22860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834640" y="146304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657600" y="640080"/>
            <a:ext cx="27432" cy="27432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754880" y="27432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577840" y="1005840"/>
            <a:ext cx="22860" cy="22860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400800" y="45720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498080" y="1280160"/>
            <a:ext cx="27432" cy="27432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0" y="54864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595360" y="2011680"/>
            <a:ext cx="22860" cy="22860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65760" y="256032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955280" y="3108960"/>
            <a:ext cx="27432" cy="27432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503920" y="420624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4480560"/>
            <a:ext cx="22860" cy="22860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737360" y="466344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108960" y="402336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035040" y="4572000"/>
            <a:ext cx="22860" cy="22860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0" y="429768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377440" y="265176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86460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Yerel Çoklu-Agent Yazılım Geliştirme Takımı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321040" y="4846320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1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AA2F7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ESNEKLIK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530352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Akıllı Yönlendirme · 5 Profil</a:t>
            </a:r>
            <a:endParaRPr lang="en-US" sz="2900" dirty="0"/>
          </a:p>
        </p:txBody>
      </p:sp>
      <p:sp>
        <p:nvSpPr>
          <p:cNvPr id="27" name="Shape 25"/>
          <p:cNvSpPr/>
          <p:nvPr/>
        </p:nvSpPr>
        <p:spPr>
          <a:xfrm>
            <a:off x="548640" y="1371600"/>
            <a:ext cx="1591056" cy="1051560"/>
          </a:xfrm>
          <a:prstGeom prst="roundRect">
            <a:avLst>
              <a:gd name="adj" fmla="val 6957"/>
            </a:avLst>
          </a:prstGeom>
          <a:solidFill>
            <a:srgbClr val="1C2349"/>
          </a:solidFill>
          <a:ln w="15875">
            <a:solidFill>
              <a:srgbClr val="7AA2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03504" y="153619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A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21792" y="1901952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kodu + pytest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249424" y="1371600"/>
            <a:ext cx="1591056" cy="1051560"/>
          </a:xfrm>
          <a:prstGeom prst="roundRect">
            <a:avLst>
              <a:gd name="adj" fmla="val 6957"/>
            </a:avLst>
          </a:prstGeom>
          <a:solidFill>
            <a:srgbClr val="1C2349"/>
          </a:solidFill>
          <a:ln w="15875">
            <a:solidFill>
              <a:srgbClr val="2DD4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304288" y="153619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static_web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2322576" y="1901952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JS sayfalar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950208" y="1371600"/>
            <a:ext cx="1591056" cy="1051560"/>
          </a:xfrm>
          <a:prstGeom prst="roundRect">
            <a:avLst>
              <a:gd name="adj" fmla="val 6957"/>
            </a:avLst>
          </a:prstGeom>
          <a:solidFill>
            <a:srgbClr val="1C2349"/>
          </a:solidFill>
          <a:ln w="15875">
            <a:solidFill>
              <a:srgbClr val="E0AF6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005072" y="153619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0AF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node_js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023360" y="1901952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node:test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50992" y="1371600"/>
            <a:ext cx="1591056" cy="1051560"/>
          </a:xfrm>
          <a:prstGeom prst="roundRect">
            <a:avLst>
              <a:gd name="adj" fmla="val 6957"/>
            </a:avLst>
          </a:prstGeom>
          <a:solidFill>
            <a:srgbClr val="1C2349"/>
          </a:solidFill>
          <a:ln w="15875">
            <a:solidFill>
              <a:srgbClr val="F7768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705856" y="153619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776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5724144" y="1901952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Dokümantasyon / Markdown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351776" y="1371600"/>
            <a:ext cx="1591056" cy="1051560"/>
          </a:xfrm>
          <a:prstGeom prst="roundRect">
            <a:avLst>
              <a:gd name="adj" fmla="val 6957"/>
            </a:avLst>
          </a:prstGeom>
          <a:solidFill>
            <a:srgbClr val="1C2349"/>
          </a:solidFill>
          <a:ln w="15875">
            <a:solidFill>
              <a:srgbClr val="7AA2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7406640" y="153619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A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7424928" y="1901952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analizi / refactor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48640" y="2697480"/>
            <a:ext cx="3886200" cy="1874520"/>
          </a:xfrm>
          <a:prstGeom prst="roundRect">
            <a:avLst>
              <a:gd name="adj" fmla="val 3902"/>
            </a:avLst>
          </a:prstGeom>
          <a:solidFill>
            <a:srgbClr val="151B3D"/>
          </a:solidFill>
          <a:ln w="12700">
            <a:solidFill>
              <a:srgbClr val="2A33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77240" y="2834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2-AŞAMALI SINIFLANDIRICI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77240" y="3127248"/>
            <a:ext cx="3474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Aşama 1 — Dil ekseni: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 adı verilirse profile eşlenir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Aşama 2 — Anahtar kelime: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 yoksa içerik sinyaline bakılır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E0A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Öncelik: </a:t>
            </a:r>
            <a:pPr indent="0" marL="0">
              <a:buNone/>
            </a:pPr>
            <a:r>
              <a:rPr lang="en-US" sz="11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 web sinyali yanlış dili ezer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709160" y="2697480"/>
            <a:ext cx="3886200" cy="1874520"/>
          </a:xfrm>
          <a:prstGeom prst="roundRect">
            <a:avLst>
              <a:gd name="adj" fmla="val 3902"/>
            </a:avLst>
          </a:prstGeom>
          <a:solidFill>
            <a:srgbClr val="1C2349"/>
          </a:solidFill>
          <a:ln w="12700">
            <a:solidFill>
              <a:srgbClr val="2A33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937760" y="2834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AF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ÇOK DİLLİ + DÜZENLEME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937760" y="3127248"/>
            <a:ext cx="3474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 ve İngilizce komutları anlar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Sıfırdan dosya üretebilir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olan dosyaları düzenleyebilir (tam içerik)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7432" cy="27432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280160" y="109728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103120" y="365760"/>
            <a:ext cx="22860" cy="22860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834640" y="146304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657600" y="640080"/>
            <a:ext cx="27432" cy="27432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754880" y="27432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577840" y="1005840"/>
            <a:ext cx="22860" cy="22860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400800" y="45720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498080" y="1280160"/>
            <a:ext cx="27432" cy="27432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0" y="54864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595360" y="2011680"/>
            <a:ext cx="22860" cy="22860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65760" y="256032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955280" y="3108960"/>
            <a:ext cx="27432" cy="27432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503920" y="420624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4480560"/>
            <a:ext cx="22860" cy="22860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737360" y="466344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108960" y="402336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035040" y="4572000"/>
            <a:ext cx="22860" cy="22860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0" y="429768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377440" y="265176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86460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Yerel Çoklu-Agent Yazılım Geliştirme Takımı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321040" y="4846320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1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AA2F7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HAFIZA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530352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Kalıcılık ve Bağlam Hijyeni</a:t>
            </a:r>
            <a:endParaRPr lang="en-US" sz="2900" dirty="0"/>
          </a:p>
        </p:txBody>
      </p:sp>
      <p:sp>
        <p:nvSpPr>
          <p:cNvPr id="27" name="Shape 25"/>
          <p:cNvSpPr/>
          <p:nvPr/>
        </p:nvSpPr>
        <p:spPr>
          <a:xfrm>
            <a:off x="548640" y="141732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1C2349"/>
          </a:solidFill>
          <a:ln w="12700">
            <a:solidFill>
              <a:srgbClr val="2A33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8640" y="1417320"/>
            <a:ext cx="2606040" cy="91440"/>
          </a:xfrm>
          <a:prstGeom prst="rect">
            <a:avLst/>
          </a:prstGeom>
          <a:solidFill>
            <a:srgbClr val="7AA2F7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1655064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Zaman Çizelgesi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31520" y="2130552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proje için olay kaydı (sohbet, eylem). Projeye göre ayrılır.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3273552" y="141732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1C2349"/>
          </a:solidFill>
          <a:ln w="12700">
            <a:solidFill>
              <a:srgbClr val="2A33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73552" y="1417320"/>
            <a:ext cx="2606040" cy="914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3" name="Text 31"/>
          <p:cNvSpPr/>
          <p:nvPr/>
        </p:nvSpPr>
        <p:spPr>
          <a:xfrm>
            <a:off x="3456432" y="1655064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Checkpoint'ler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456432" y="2130552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Görev başına kod + test sonucu. Proje başına son 20 saklanır.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998464" y="141732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1C2349"/>
          </a:solidFill>
          <a:ln w="12700">
            <a:solidFill>
              <a:srgbClr val="2A33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998464" y="1417320"/>
            <a:ext cx="2606040" cy="91440"/>
          </a:xfrm>
          <a:prstGeom prst="rect">
            <a:avLst/>
          </a:prstGeom>
          <a:solidFill>
            <a:srgbClr val="E0AF68"/>
          </a:solidFill>
          <a:ln/>
        </p:spPr>
      </p:sp>
      <p:sp>
        <p:nvSpPr>
          <p:cNvPr id="37" name="Text 35"/>
          <p:cNvSpPr/>
          <p:nvPr/>
        </p:nvSpPr>
        <p:spPr>
          <a:xfrm>
            <a:off x="6181344" y="1655064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Anlamsal Hafıza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181344" y="2130552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Özetlenmiş bağlam. Maks 200 parça, önem-bazlı budama.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548640" y="3337560"/>
            <a:ext cx="8046720" cy="1280160"/>
          </a:xfrm>
          <a:prstGeom prst="roundRect">
            <a:avLst>
              <a:gd name="adj" fmla="val 5714"/>
            </a:avLst>
          </a:prstGeom>
          <a:solidFill>
            <a:srgbClr val="151B3D"/>
          </a:solidFill>
          <a:ln w="12700">
            <a:solidFill>
              <a:srgbClr val="2A33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48640" y="3337560"/>
            <a:ext cx="91440" cy="1280160"/>
          </a:xfrm>
          <a:prstGeom prst="rect">
            <a:avLst/>
          </a:prstGeom>
          <a:solidFill>
            <a:srgbClr val="F7768E"/>
          </a:solidFill>
          <a:ln/>
        </p:spPr>
      </p:sp>
      <p:sp>
        <p:nvSpPr>
          <p:cNvPr id="41" name="Text 39"/>
          <p:cNvSpPr/>
          <p:nvPr/>
        </p:nvSpPr>
        <p:spPr>
          <a:xfrm>
            <a:off x="822960" y="3474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76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PROJELER ARASI İZOLASYON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22960" y="379476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sorgu WHERE p.path ile projeye filtrelenir — bir projenin bağlamı başka projeye karışmaz.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 ekranda hem model bağlamında doğrulandı.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7432" cy="27432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280160" y="109728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103120" y="365760"/>
            <a:ext cx="22860" cy="22860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834640" y="146304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657600" y="640080"/>
            <a:ext cx="27432" cy="27432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754880" y="27432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577840" y="1005840"/>
            <a:ext cx="22860" cy="22860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400800" y="45720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498080" y="1280160"/>
            <a:ext cx="27432" cy="27432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0" y="54864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595360" y="2011680"/>
            <a:ext cx="22860" cy="22860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65760" y="256032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955280" y="3108960"/>
            <a:ext cx="27432" cy="27432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503920" y="420624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4480560"/>
            <a:ext cx="22860" cy="22860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737360" y="466344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108960" y="402336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035040" y="4572000"/>
            <a:ext cx="22860" cy="22860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0" y="429768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377440" y="265176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86460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Yerel Çoklu-Agent Yazılım Geliştirme Takımı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321040" y="4846320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B1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AA2F7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EMEĞIMIZ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530352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Neler Geliştirdik</a:t>
            </a:r>
            <a:endParaRPr lang="en-US" sz="2900" dirty="0"/>
          </a:p>
        </p:txBody>
      </p:sp>
      <p:sp>
        <p:nvSpPr>
          <p:cNvPr id="27" name="Shape 25"/>
          <p:cNvSpPr/>
          <p:nvPr/>
        </p:nvSpPr>
        <p:spPr>
          <a:xfrm>
            <a:off x="548640" y="1371600"/>
            <a:ext cx="3931920" cy="749808"/>
          </a:xfrm>
          <a:prstGeom prst="roundRect">
            <a:avLst>
              <a:gd name="adj" fmla="val 8537"/>
            </a:avLst>
          </a:prstGeom>
          <a:solidFill>
            <a:srgbClr val="1C2349"/>
          </a:solidFill>
          <a:ln w="12700">
            <a:solidFill>
              <a:srgbClr val="2A33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94944" y="1618488"/>
            <a:ext cx="256032" cy="256032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29" name="Text 27"/>
          <p:cNvSpPr/>
          <p:nvPr/>
        </p:nvSpPr>
        <p:spPr>
          <a:xfrm>
            <a:off x="694944" y="16184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60704" y="14630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Çoklu-Agent Hattı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060704" y="175564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düğüm · 15 ajan · 5 profil (Python / Web / Node.js / Docs / Proje)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63440" y="1371600"/>
            <a:ext cx="3931920" cy="749808"/>
          </a:xfrm>
          <a:prstGeom prst="roundRect">
            <a:avLst>
              <a:gd name="adj" fmla="val 8537"/>
            </a:avLst>
          </a:prstGeom>
          <a:solidFill>
            <a:srgbClr val="1C2349"/>
          </a:solidFill>
          <a:ln w="12700">
            <a:solidFill>
              <a:srgbClr val="2A33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09744" y="1618488"/>
            <a:ext cx="256032" cy="25603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4" name="Text 32"/>
          <p:cNvSpPr/>
          <p:nvPr/>
        </p:nvSpPr>
        <p:spPr>
          <a:xfrm>
            <a:off x="4809744" y="16184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175504" y="14630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Kod Üretimi + Düzenleme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5175504" y="175564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Sıfırdan dosya üretimi ve var-olan dosyayı tam-içerik düzenleme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2267712"/>
            <a:ext cx="3931920" cy="749808"/>
          </a:xfrm>
          <a:prstGeom prst="roundRect">
            <a:avLst>
              <a:gd name="adj" fmla="val 8537"/>
            </a:avLst>
          </a:prstGeom>
          <a:solidFill>
            <a:srgbClr val="1C2349"/>
          </a:solidFill>
          <a:ln w="12700">
            <a:solidFill>
              <a:srgbClr val="2A33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94944" y="2514600"/>
            <a:ext cx="256032" cy="256032"/>
          </a:xfrm>
          <a:prstGeom prst="ellipse">
            <a:avLst/>
          </a:prstGeom>
          <a:solidFill>
            <a:srgbClr val="E0AF68"/>
          </a:solidFill>
          <a:ln/>
        </p:spPr>
      </p:sp>
      <p:sp>
        <p:nvSpPr>
          <p:cNvPr id="39" name="Text 37"/>
          <p:cNvSpPr/>
          <p:nvPr/>
        </p:nvSpPr>
        <p:spPr>
          <a:xfrm>
            <a:off x="694944" y="25146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060704" y="235915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Gerçek Test Çalıştırma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1060704" y="265176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ve node:test sandbox'ta koşar; en iyi deneme korunur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663440" y="2267712"/>
            <a:ext cx="3931920" cy="749808"/>
          </a:xfrm>
          <a:prstGeom prst="roundRect">
            <a:avLst>
              <a:gd name="adj" fmla="val 8537"/>
            </a:avLst>
          </a:prstGeom>
          <a:solidFill>
            <a:srgbClr val="1C2349"/>
          </a:solidFill>
          <a:ln w="12700">
            <a:solidFill>
              <a:srgbClr val="2A33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809744" y="2514600"/>
            <a:ext cx="256032" cy="256032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44" name="Text 42"/>
          <p:cNvSpPr/>
          <p:nvPr/>
        </p:nvSpPr>
        <p:spPr>
          <a:xfrm>
            <a:off x="4809744" y="25146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175504" y="235915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Bağlam Hijyeni &amp; Hafıza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5175504" y="265176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Projeye özel hafıza, budama/cap, projeler arası izolasyon (M1–M6)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48640" y="3163824"/>
            <a:ext cx="3931920" cy="749808"/>
          </a:xfrm>
          <a:prstGeom prst="roundRect">
            <a:avLst>
              <a:gd name="adj" fmla="val 8537"/>
            </a:avLst>
          </a:prstGeom>
          <a:solidFill>
            <a:srgbClr val="1C2349"/>
          </a:solidFill>
          <a:ln w="12700">
            <a:solidFill>
              <a:srgbClr val="2A33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94944" y="3410712"/>
            <a:ext cx="256032" cy="256032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49" name="Text 47"/>
          <p:cNvSpPr/>
          <p:nvPr/>
        </p:nvSpPr>
        <p:spPr>
          <a:xfrm>
            <a:off x="694944" y="3410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060704" y="325526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Kalitesi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1060704" y="354787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+ ilgi eşiği + embed önekleri + sürüm koruması (R1–R6)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663440" y="3163824"/>
            <a:ext cx="3931920" cy="749808"/>
          </a:xfrm>
          <a:prstGeom prst="roundRect">
            <a:avLst>
              <a:gd name="adj" fmla="val 8537"/>
            </a:avLst>
          </a:prstGeom>
          <a:solidFill>
            <a:srgbClr val="1C2349"/>
          </a:solidFill>
          <a:ln w="12700">
            <a:solidFill>
              <a:srgbClr val="2A33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809744" y="3410712"/>
            <a:ext cx="256032" cy="25603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54" name="Text 52"/>
          <p:cNvSpPr/>
          <p:nvPr/>
        </p:nvSpPr>
        <p:spPr>
          <a:xfrm>
            <a:off x="4809744" y="3410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175504" y="325526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Dayanıklı LLM Havuzu</a:t>
            </a:r>
            <a:endParaRPr lang="en-US" sz="1350" dirty="0"/>
          </a:p>
        </p:txBody>
      </p:sp>
      <p:sp>
        <p:nvSpPr>
          <p:cNvPr id="56" name="Text 54"/>
          <p:cNvSpPr/>
          <p:nvPr/>
        </p:nvSpPr>
        <p:spPr>
          <a:xfrm>
            <a:off x="5175504" y="354787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Devre kesici · gerçek fallback · seed · bağlam penceresi (8 düzeltme)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548640" y="4059936"/>
            <a:ext cx="3931920" cy="749808"/>
          </a:xfrm>
          <a:prstGeom prst="roundRect">
            <a:avLst>
              <a:gd name="adj" fmla="val 8537"/>
            </a:avLst>
          </a:prstGeom>
          <a:solidFill>
            <a:srgbClr val="1C2349"/>
          </a:solidFill>
          <a:ln w="12700">
            <a:solidFill>
              <a:srgbClr val="2A33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694944" y="4306824"/>
            <a:ext cx="256032" cy="256032"/>
          </a:xfrm>
          <a:prstGeom prst="ellipse">
            <a:avLst/>
          </a:prstGeom>
          <a:solidFill>
            <a:srgbClr val="E0AF68"/>
          </a:solidFill>
          <a:ln/>
        </p:spPr>
      </p:sp>
      <p:sp>
        <p:nvSpPr>
          <p:cNvPr id="59" name="Text 57"/>
          <p:cNvSpPr/>
          <p:nvPr/>
        </p:nvSpPr>
        <p:spPr>
          <a:xfrm>
            <a:off x="694944" y="43068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1060704" y="415137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Hibrit Motor</a:t>
            </a:r>
            <a:endParaRPr lang="en-US" sz="1350" dirty="0"/>
          </a:p>
        </p:txBody>
      </p:sp>
      <p:sp>
        <p:nvSpPr>
          <p:cNvPr id="61" name="Text 59"/>
          <p:cNvSpPr/>
          <p:nvPr/>
        </p:nvSpPr>
        <p:spPr>
          <a:xfrm>
            <a:off x="1060704" y="444398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İstek başına Lokal (Ollama) ↔ Claude geçişi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4663440" y="4059936"/>
            <a:ext cx="3931920" cy="749808"/>
          </a:xfrm>
          <a:prstGeom prst="roundRect">
            <a:avLst>
              <a:gd name="adj" fmla="val 8537"/>
            </a:avLst>
          </a:prstGeom>
          <a:solidFill>
            <a:srgbClr val="1C2349"/>
          </a:solidFill>
          <a:ln w="12700">
            <a:solidFill>
              <a:srgbClr val="2A33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4809744" y="4306824"/>
            <a:ext cx="256032" cy="256032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64" name="Text 62"/>
          <p:cNvSpPr/>
          <p:nvPr/>
        </p:nvSpPr>
        <p:spPr>
          <a:xfrm>
            <a:off x="4809744" y="43068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5175504" y="415137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 Uzay Temalı UI</a:t>
            </a:r>
            <a:endParaRPr lang="en-US" sz="1350" dirty="0"/>
          </a:p>
        </p:txBody>
      </p:sp>
      <p:sp>
        <p:nvSpPr>
          <p:cNvPr id="66" name="Text 64"/>
          <p:cNvSpPr/>
          <p:nvPr/>
        </p:nvSpPr>
        <p:spPr>
          <a:xfrm>
            <a:off x="5175504" y="444398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· tema anahtarı · canlı sayaç · proje gezgini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7432" cy="27432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280160" y="109728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103120" y="365760"/>
            <a:ext cx="22860" cy="22860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834640" y="146304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657600" y="640080"/>
            <a:ext cx="27432" cy="27432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754880" y="27432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577840" y="1005840"/>
            <a:ext cx="22860" cy="22860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400800" y="45720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498080" y="1280160"/>
            <a:ext cx="27432" cy="27432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0" y="54864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595360" y="2011680"/>
            <a:ext cx="22860" cy="22860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65760" y="256032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955280" y="3108960"/>
            <a:ext cx="27432" cy="27432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503920" y="420624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4480560"/>
            <a:ext cx="22860" cy="22860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737360" y="466344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108960" y="402336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035040" y="4572000"/>
            <a:ext cx="22860" cy="22860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0" y="429768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377440" y="265176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-2377440" y="3383280"/>
            <a:ext cx="2743200" cy="2743200"/>
          </a:xfrm>
          <a:prstGeom prst="ellipse">
            <a:avLst/>
          </a:prstGeom>
          <a:solidFill>
            <a:srgbClr val="7AA2F7">
              <a:alpha val="22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-2103120" y="3703320"/>
            <a:ext cx="2011680" cy="2011680"/>
          </a:xfrm>
          <a:prstGeom prst="ellipse">
            <a:avLst/>
          </a:prstGeom>
          <a:solidFill>
            <a:srgbClr val="2DD4BF">
              <a:alpha val="3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AA2F7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KAPANIŞ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Özetle</a:t>
            </a:r>
            <a:endParaRPr lang="en-US" sz="2900" dirty="0"/>
          </a:p>
        </p:txBody>
      </p:sp>
      <p:sp>
        <p:nvSpPr>
          <p:cNvPr id="27" name="Shape 25"/>
          <p:cNvSpPr/>
          <p:nvPr/>
        </p:nvSpPr>
        <p:spPr>
          <a:xfrm>
            <a:off x="640080" y="1499616"/>
            <a:ext cx="274320" cy="27432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1499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51560" y="14630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Çoklu-agent yazılım takımı  —  </a:t>
            </a:r>
            <a:pPr indent="0" marL="0">
              <a:buNone/>
            </a:pPr>
            <a:r>
              <a:rPr lang="en-US" sz="14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düğümlü LangGraph hattı, deterministik supervisor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640080" y="2157984"/>
            <a:ext cx="274320" cy="27432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2157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51560" y="212140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motor seçeneği  —  </a:t>
            </a:r>
            <a:pPr indent="0" marL="0">
              <a:buNone/>
            </a:pPr>
            <a:r>
              <a:rPr lang="en-US" sz="14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 (Ollama) ve Claude — istek başına seçilir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640080" y="2816352"/>
            <a:ext cx="274320" cy="27432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2816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51560" y="2779776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Gerçekten çalışan kod  —  </a:t>
            </a:r>
            <a:pPr indent="0" marL="0">
              <a:buNone/>
            </a:pPr>
            <a:r>
              <a:rPr lang="en-US" sz="14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/ node:test ile doğrulama + dosya düzenleme</a:t>
            </a:r>
            <a:endParaRPr lang="en-US" sz="1450" dirty="0"/>
          </a:p>
        </p:txBody>
      </p:sp>
      <p:sp>
        <p:nvSpPr>
          <p:cNvPr id="36" name="Shape 34"/>
          <p:cNvSpPr/>
          <p:nvPr/>
        </p:nvSpPr>
        <p:spPr>
          <a:xfrm>
            <a:off x="640080" y="3474720"/>
            <a:ext cx="274320" cy="27432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3474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051560" y="3438144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 ve dayanıklı  —  </a:t>
            </a:r>
            <a:pPr indent="0" marL="0">
              <a:buNone/>
            </a:pPr>
            <a:r>
              <a:rPr lang="en-US" sz="14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sandbox, devre kesici, projeye özel hafıza</a:t>
            </a:r>
            <a:endParaRPr lang="en-US" sz="1450" dirty="0"/>
          </a:p>
        </p:txBody>
      </p:sp>
      <p:sp>
        <p:nvSpPr>
          <p:cNvPr id="39" name="Shape 37"/>
          <p:cNvSpPr/>
          <p:nvPr/>
        </p:nvSpPr>
        <p:spPr>
          <a:xfrm>
            <a:off x="548640" y="4297680"/>
            <a:ext cx="4023360" cy="548640"/>
          </a:xfrm>
          <a:prstGeom prst="roundRect">
            <a:avLst/>
          </a:prstGeom>
          <a:solidFill>
            <a:srgbClr val="2DD4BF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48640" y="42976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CANLI DEMO  →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4754880" y="42976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7AA2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Teşekkürler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Yerel Çoklu-Agent Yazılım Geliştirme Takımı</dc:title>
  <dc:subject>PptxGenJS Presentation</dc:subject>
  <dc:creator>Erkut Ateş</dc:creator>
  <cp:lastModifiedBy>Erkut Ateş</cp:lastModifiedBy>
  <cp:revision>1</cp:revision>
  <dcterms:created xsi:type="dcterms:W3CDTF">2026-06-01T17:38:11Z</dcterms:created>
  <dcterms:modified xsi:type="dcterms:W3CDTF">2026-06-01T17:38:11Z</dcterms:modified>
</cp:coreProperties>
</file>